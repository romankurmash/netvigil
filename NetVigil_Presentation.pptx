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400"/>
              </a:spcAft>
              <a:defRPr sz="6400" b="1">
                <a:solidFill>
                  <a:srgbClr val="1A2E40"/>
                </a:solidFill>
                <a:latin typeface="Georgia"/>
              </a:defRPr>
            </a:pPr>
            <a:r>
              <a:t>NetVigil</a:t>
            </a:r>
          </a:p>
          <a:p>
            <a:pPr algn="ctr">
              <a:spcAft>
                <a:spcPts val="4000"/>
              </a:spcAft>
              <a:defRPr sz="2000">
                <a:solidFill>
                  <a:srgbClr val="6E8A75"/>
                </a:solidFill>
                <a:latin typeface="Georgia"/>
              </a:defRPr>
            </a:pPr>
            <a:r>
              <a:t>Платформа активного моніторингу безпеки та інтелектуального аналізу загроз</a:t>
            </a:r>
          </a:p>
          <a:p>
            <a:pPr algn="ctr">
              <a:defRPr sz="1400">
                <a:solidFill>
                  <a:srgbClr val="9C8C70"/>
                </a:solidFill>
                <a:latin typeface="Garamond"/>
              </a:defRPr>
            </a:pPr>
            <a:r>
              <a:t>Роман Курмаш | Дипломний проект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0990" y="3931920"/>
            <a:ext cx="1828800" cy="18288"/>
          </a:xfrm>
          <a:prstGeom prst="rect">
            <a:avLst/>
          </a:prstGeom>
          <a:solidFill>
            <a:srgbClr val="9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A2E40"/>
                </a:solidFill>
                <a:latin typeface="Georgia"/>
              </a:defRPr>
            </a:pPr>
            <a:r>
              <a:t>Мета проекту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0362895" cy="18288"/>
          </a:xfrm>
          <a:prstGeom prst="rect">
            <a:avLst/>
          </a:prstGeom>
          <a:solidFill>
            <a:srgbClr val="9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Garamond"/>
              </a:rPr>
              <a:t/>
            </a:r>
            <a:r>
              <a:rPr sz="1800" b="1">
                <a:solidFill>
                  <a:srgbClr val="1A2E40"/>
                </a:solidFill>
                <a:latin typeface="Garamond"/>
              </a:rPr>
              <a:t>Автоматизація SecOps</a:t>
            </a:r>
            <a:r>
              <a:rPr sz="1800">
                <a:solidFill>
                  <a:srgbClr val="2C2C2C"/>
                </a:solidFill>
                <a:latin typeface="Garamond"/>
              </a:rPr>
              <a:t>: Перехід від пасивного спостереження до активного аналізу та автоматичного реагування на інциденти.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Garamond"/>
              </a:rPr>
              <a:t/>
            </a:r>
            <a:r>
              <a:rPr sz="1800" b="1">
                <a:solidFill>
                  <a:srgbClr val="1A2E40"/>
                </a:solidFill>
                <a:latin typeface="Garamond"/>
              </a:rPr>
              <a:t>ШІ-аналіз загроз</a:t>
            </a:r>
            <a:r>
              <a:rPr sz="1800">
                <a:solidFill>
                  <a:srgbClr val="2C2C2C"/>
                </a:solidFill>
                <a:latin typeface="Garamond"/>
              </a:rPr>
              <a:t>: Залучення локальних великих мовних моделей (LLM) через Ollama для інтелектуального аналізу поведінки контейнерів.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Garamond"/>
              </a:rPr>
              <a:t/>
            </a:r>
            <a:r>
              <a:rPr sz="1800" b="1">
                <a:solidFill>
                  <a:srgbClr val="1A2E40"/>
                </a:solidFill>
                <a:latin typeface="Garamond"/>
              </a:rPr>
              <a:t>Життєвий цикл інцидентів</a:t>
            </a:r>
            <a:r>
              <a:rPr sz="1800">
                <a:solidFill>
                  <a:srgbClr val="2C2C2C"/>
                </a:solidFill>
                <a:latin typeface="Garamond"/>
              </a:rPr>
              <a:t>: Об'єднання розрізнених повідомлень у єдиний державний реєстр інцидентів з відстеженням станів (Firing/Resolved).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Garamond"/>
              </a:rPr>
              <a:t/>
            </a:r>
            <a:r>
              <a:rPr sz="1800" b="1">
                <a:solidFill>
                  <a:srgbClr val="1A2E40"/>
                </a:solidFill>
                <a:latin typeface="Garamond"/>
              </a:rPr>
              <a:t>Контекстуалізація подій</a:t>
            </a:r>
            <a:r>
              <a:rPr sz="1800">
                <a:solidFill>
                  <a:srgbClr val="2C2C2C"/>
                </a:solidFill>
                <a:latin typeface="Garamond"/>
              </a:rPr>
              <a:t>: Забезпечення повного аналітичного контексту для SecOps-аналітиків за рахунок крос-сервісної кореляції логів.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C8C70"/>
                </a:solidFill>
                <a:latin typeface="Garamond"/>
              </a:defRPr>
            </a:pPr>
            <a:r>
              <a:t>NetVigil — Observability &amp; Threat Intelligence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A2E40"/>
                </a:solidFill>
                <a:latin typeface="Georgia"/>
              </a:defRPr>
            </a:pPr>
            <a:r>
              <a:t>Загальна архітектура системи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0362895" cy="18288"/>
          </a:xfrm>
          <a:prstGeom prst="rect">
            <a:avLst/>
          </a:prstGeom>
          <a:solidFill>
            <a:srgbClr val="9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2C2C2C"/>
                </a:solidFill>
                <a:latin typeface="Garamond"/>
              </a:rPr>
              <a:t/>
            </a:r>
            <a:r>
              <a:rPr sz="1600" b="1">
                <a:solidFill>
                  <a:srgbClr val="1A2E40"/>
                </a:solidFill>
                <a:latin typeface="Garamond"/>
              </a:rPr>
              <a:t>Рівень обсервабіліті (Metrics &amp; Logs)</a:t>
            </a:r>
            <a:r>
              <a:rPr sz="1600">
                <a:solidFill>
                  <a:srgbClr val="2C2C2C"/>
                </a:solidFill>
                <a:latin typeface="Garamond"/>
              </a:rPr>
              <a:t>: Promtail збирає логи контейнерів Docker та пересилає їх до Loki. Prometheus збирає метрики.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C2C2C"/>
                </a:solidFill>
                <a:latin typeface="Garamond"/>
              </a:rPr>
              <a:t/>
            </a:r>
            <a:r>
              <a:rPr sz="1600" b="1">
                <a:solidFill>
                  <a:srgbClr val="1A2E40"/>
                </a:solidFill>
                <a:latin typeface="Garamond"/>
              </a:rPr>
              <a:t>Рівень аналітики (AI-Adapter)</a:t>
            </a:r>
            <a:r>
              <a:rPr sz="1600">
                <a:solidFill>
                  <a:srgbClr val="2C2C2C"/>
                </a:solidFill>
                <a:latin typeface="Garamond"/>
              </a:rPr>
              <a:t>: Потоковий сканер логів вичитує нові записи з Loki, класифікує їх за допомогою LLM (Llama-3) та розраховує бал ризику.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C2C2C"/>
                </a:solidFill>
                <a:latin typeface="Garamond"/>
              </a:rPr>
              <a:t/>
            </a:r>
            <a:r>
              <a:rPr sz="1600" b="1">
                <a:solidFill>
                  <a:srgbClr val="1A2E40"/>
                </a:solidFill>
                <a:latin typeface="Garamond"/>
              </a:rPr>
              <a:t>Рівень сповіщень (Alertmanager &amp; Bot)</a:t>
            </a:r>
            <a:r>
              <a:rPr sz="1600">
                <a:solidFill>
                  <a:srgbClr val="2C2C2C"/>
                </a:solidFill>
                <a:latin typeface="Garamond"/>
              </a:rPr>
              <a:t>: Alerts з високим ризиком надсилаються до Alertmanager, який тригерить Bot-мікросервіс для надсилання сповіщень.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C2C2C"/>
                </a:solidFill>
                <a:latin typeface="Garamond"/>
              </a:rPr>
              <a:t/>
            </a:r>
            <a:r>
              <a:rPr sz="1600" b="1">
                <a:solidFill>
                  <a:srgbClr val="1A2E40"/>
                </a:solidFill>
                <a:latin typeface="Garamond"/>
              </a:rPr>
              <a:t>SecOps Dashboard (Web-App)</a:t>
            </a:r>
            <a:r>
              <a:rPr sz="1600">
                <a:solidFill>
                  <a:srgbClr val="2C2C2C"/>
                </a:solidFill>
                <a:latin typeface="Garamond"/>
              </a:rPr>
              <a:t>: Веб-інтерфейс для візуалізації реєстру інцидентів, запуску ручної кореляції та ШІ-ретроспектив.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1148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66560" y="1828800"/>
            <a:ext cx="4114800" cy="4114800"/>
          </a:xfrm>
          <a:prstGeom prst="rect">
            <a:avLst/>
          </a:prstGeom>
          <a:noFill/>
          <a:ln w="12700">
            <a:solidFill>
              <a:srgbClr val="9C8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C8C70"/>
                </a:solidFill>
                <a:latin typeface="Garamond"/>
              </a:defRPr>
            </a:pPr>
            <a:r>
              <a:t>NetVigil — Observability &amp; Threat Intelligence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A2E40"/>
                </a:solidFill>
                <a:latin typeface="Georgia"/>
              </a:defRPr>
            </a:pPr>
            <a:r>
              <a:t>Концепція активної обсервабіліті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0362895" cy="18288"/>
          </a:xfrm>
          <a:prstGeom prst="rect">
            <a:avLst/>
          </a:prstGeom>
          <a:solidFill>
            <a:srgbClr val="9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Garamond"/>
              </a:rPr>
              <a:t/>
            </a:r>
            <a:r>
              <a:rPr sz="1800" b="1">
                <a:solidFill>
                  <a:srgbClr val="1A2E40"/>
                </a:solidFill>
                <a:latin typeface="Garamond"/>
              </a:rPr>
              <a:t>Автоматичне виявлення сервісів</a:t>
            </a:r>
            <a:r>
              <a:rPr sz="1800">
                <a:solidFill>
                  <a:srgbClr val="2C2C2C"/>
                </a:solidFill>
                <a:latin typeface="Garamond"/>
              </a:rPr>
              <a:t>: Динамічне налаштування Promtail для збору логів з усіх запущених Docker-контейнерів.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Garamond"/>
              </a:rPr>
              <a:t/>
            </a:r>
            <a:r>
              <a:rPr sz="1800" b="1">
                <a:solidFill>
                  <a:srgbClr val="1A2E40"/>
                </a:solidFill>
                <a:latin typeface="Garamond"/>
              </a:rPr>
              <a:t>Попередження помилок</a:t>
            </a:r>
            <a:r>
              <a:rPr sz="1800">
                <a:solidFill>
                  <a:srgbClr val="2C2C2C"/>
                </a:solidFill>
                <a:latin typeface="Garamond"/>
              </a:rPr>
              <a:t>: Спеціальні правила Prometheus/Alertmanager для виявлення критичних помилок, перевантаження пам'яті та мережевих аномалій.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Garamond"/>
              </a:rPr>
              <a:t/>
            </a:r>
            <a:r>
              <a:rPr sz="1800" b="1">
                <a:solidFill>
                  <a:srgbClr val="1A2E40"/>
                </a:solidFill>
                <a:latin typeface="Garamond"/>
              </a:rPr>
              <a:t>Loki як єдине джерело</a:t>
            </a:r>
            <a:r>
              <a:rPr sz="1800">
                <a:solidFill>
                  <a:srgbClr val="2C2C2C"/>
                </a:solidFill>
                <a:latin typeface="Garamond"/>
              </a:rPr>
              <a:t>: Централізоване зберігання логів з можливостю швидкого пошуку за мітками контейнерів.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C8C70"/>
                </a:solidFill>
                <a:latin typeface="Garamond"/>
              </a:defRPr>
            </a:pPr>
            <a:r>
              <a:t>NetVigil — Observability &amp; Threat Intelligence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A2E40"/>
                </a:solidFill>
                <a:latin typeface="Georgia"/>
              </a:defRPr>
            </a:pPr>
            <a:r>
              <a:t>ШІ-аналіз логів та виявлення загроз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0362895" cy="18288"/>
          </a:xfrm>
          <a:prstGeom prst="rect">
            <a:avLst/>
          </a:prstGeom>
          <a:solidFill>
            <a:srgbClr val="9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2C2C2C"/>
                </a:solidFill>
                <a:latin typeface="Garamond"/>
              </a:rPr>
              <a:t/>
            </a:r>
            <a:r>
              <a:rPr sz="1600" b="1">
                <a:solidFill>
                  <a:srgbClr val="1A2E40"/>
                </a:solidFill>
                <a:latin typeface="Garamond"/>
              </a:rPr>
              <a:t>Потокове сканування</a:t>
            </a:r>
            <a:r>
              <a:rPr sz="1600">
                <a:solidFill>
                  <a:srgbClr val="2C2C2C"/>
                </a:solidFill>
                <a:latin typeface="Garamond"/>
              </a:rPr>
              <a:t>: Робота мікросервісу AI-Adapter у реальному часі для виявлення аномальних активностей.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C2C2C"/>
                </a:solidFill>
                <a:latin typeface="Garamond"/>
              </a:rPr>
              <a:t/>
            </a:r>
            <a:r>
              <a:rPr sz="1600" b="1">
                <a:solidFill>
                  <a:srgbClr val="1A2E40"/>
                </a:solidFill>
                <a:latin typeface="Garamond"/>
              </a:rPr>
              <a:t>Локальний LLM Llama-3</a:t>
            </a:r>
            <a:r>
              <a:rPr sz="1600">
                <a:solidFill>
                  <a:srgbClr val="2C2C2C"/>
                </a:solidFill>
                <a:latin typeface="Garamond"/>
              </a:rPr>
              <a:t>: Використання Ollama для збереження конфіденційності даних (без надсилання логів у хмарні API).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C2C2C"/>
                </a:solidFill>
                <a:latin typeface="Garamond"/>
              </a:rPr>
              <a:t/>
            </a:r>
            <a:r>
              <a:rPr sz="1600" b="1">
                <a:solidFill>
                  <a:srgbClr val="1A2E40"/>
                </a:solidFill>
                <a:latin typeface="Garamond"/>
              </a:rPr>
              <a:t>Аналіз ризиків</a:t>
            </a:r>
            <a:r>
              <a:rPr sz="1600">
                <a:solidFill>
                  <a:srgbClr val="2C2C2C"/>
                </a:solidFill>
                <a:latin typeface="Garamond"/>
              </a:rPr>
              <a:t>: Розрахунок Risk Score (0-10) та визначення типу загрози (SQL Injection, RCE, brute-force тощо).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C2C2C"/>
                </a:solidFill>
                <a:latin typeface="Garamond"/>
              </a:rPr>
              <a:t/>
            </a:r>
            <a:r>
              <a:rPr sz="1600" b="1">
                <a:solidFill>
                  <a:srgbClr val="1A2E40"/>
                </a:solidFill>
                <a:latin typeface="Garamond"/>
              </a:rPr>
              <a:t>Розумна фільтрація</a:t>
            </a:r>
            <a:r>
              <a:rPr sz="1600">
                <a:solidFill>
                  <a:srgbClr val="2C2C2C"/>
                </a:solidFill>
                <a:latin typeface="Garamond"/>
              </a:rPr>
              <a:t>: Надсилання до Alertmanager лише критичних подій (Risk &gt;= 7) для запобігання втомі від оповіщень.</a:t>
            </a:r>
          </a:p>
        </p:txBody>
      </p:sp>
      <p:pic>
        <p:nvPicPr>
          <p:cNvPr id="5" name="Picture 4" descr="log_analysis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1148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66560" y="1828800"/>
            <a:ext cx="4114800" cy="4114800"/>
          </a:xfrm>
          <a:prstGeom prst="rect">
            <a:avLst/>
          </a:prstGeom>
          <a:noFill/>
          <a:ln w="12700">
            <a:solidFill>
              <a:srgbClr val="9C8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C8C70"/>
                </a:solidFill>
                <a:latin typeface="Garamond"/>
              </a:defRPr>
            </a:pPr>
            <a:r>
              <a:t>NetVigil — Observability &amp; Threat Intelligence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A2E40"/>
                </a:solidFill>
                <a:latin typeface="Georgia"/>
              </a:defRPr>
            </a:pPr>
            <a:r>
              <a:t>Реєстр подій та життєвий цикл інцидентів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0362895" cy="18288"/>
          </a:xfrm>
          <a:prstGeom prst="rect">
            <a:avLst/>
          </a:prstGeom>
          <a:solidFill>
            <a:srgbClr val="9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2C2C2C"/>
                </a:solidFill>
                <a:latin typeface="Garamond"/>
              </a:rPr>
              <a:t/>
            </a:r>
            <a:r>
              <a:rPr sz="1600" b="1">
                <a:solidFill>
                  <a:srgbClr val="1A2E40"/>
                </a:solidFill>
                <a:latin typeface="Garamond"/>
              </a:rPr>
              <a:t>Агрегація подій</a:t>
            </a:r>
            <a:r>
              <a:rPr sz="1600">
                <a:solidFill>
                  <a:srgbClr val="2C2C2C"/>
                </a:solidFill>
                <a:latin typeface="Garamond"/>
              </a:rPr>
              <a:t>: Автоматичне групування сповіщень за парою (alert_name, container) у єдину сутність інциденту.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C2C2C"/>
                </a:solidFill>
                <a:latin typeface="Garamond"/>
              </a:rPr>
              <a:t/>
            </a:r>
            <a:r>
              <a:rPr sz="1600" b="1">
                <a:solidFill>
                  <a:srgbClr val="1A2E40"/>
                </a:solidFill>
                <a:latin typeface="Garamond"/>
              </a:rPr>
              <a:t>Життєвий цикл (Firing -&gt; Resolved)</a:t>
            </a:r>
            <a:r>
              <a:rPr sz="1600">
                <a:solidFill>
                  <a:srgbClr val="2C2C2C"/>
                </a:solidFill>
                <a:latin typeface="Garamond"/>
              </a:rPr>
              <a:t>: Автоматичне оновлення стану інциденту при отриманні сигналу про усунення проблеми.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C2C2C"/>
                </a:solidFill>
                <a:latin typeface="Garamond"/>
              </a:rPr>
              <a:t/>
            </a:r>
            <a:r>
              <a:rPr sz="1600" b="1">
                <a:solidFill>
                  <a:srgbClr val="1A2E40"/>
                </a:solidFill>
                <a:latin typeface="Garamond"/>
              </a:rPr>
              <a:t>Хронологічний таймлайн</a:t>
            </a:r>
            <a:r>
              <a:rPr sz="1600">
                <a:solidFill>
                  <a:srgbClr val="2C2C2C"/>
                </a:solidFill>
                <a:latin typeface="Garamond"/>
              </a:rPr>
              <a:t>: Збереження всіх проміжних повідомлень та логів, що викликали інцидент, в межах одного запису.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C2C2C"/>
                </a:solidFill>
                <a:latin typeface="Garamond"/>
              </a:rPr>
              <a:t/>
            </a:r>
            <a:r>
              <a:rPr sz="1600" b="1">
                <a:solidFill>
                  <a:srgbClr val="1A2E40"/>
                </a:solidFill>
                <a:latin typeface="Garamond"/>
              </a:rPr>
              <a:t>Збереження даних</a:t>
            </a:r>
            <a:r>
              <a:rPr sz="1600">
                <a:solidFill>
                  <a:srgbClr val="2C2C2C"/>
                </a:solidFill>
                <a:latin typeface="Garamond"/>
              </a:rPr>
              <a:t>: Локальна база даних інцидентів у форматі JSON для швидкого доступу та аналізу.</a:t>
            </a:r>
          </a:p>
        </p:txBody>
      </p:sp>
      <p:pic>
        <p:nvPicPr>
          <p:cNvPr id="5" name="Picture 4" descr="screenshot_telegram_al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405754"/>
            <a:ext cx="4846320" cy="296089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0" y="2405754"/>
            <a:ext cx="4846320" cy="2960890"/>
          </a:xfrm>
          <a:prstGeom prst="rect">
            <a:avLst/>
          </a:prstGeom>
          <a:noFill/>
          <a:ln w="12700">
            <a:solidFill>
              <a:srgbClr val="9C8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C8C70"/>
                </a:solidFill>
                <a:latin typeface="Garamond"/>
              </a:defRPr>
            </a:pPr>
            <a:r>
              <a:t>NetVigil — Observability &amp; Threat Intelligence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A2E40"/>
                </a:solidFill>
                <a:latin typeface="Georgia"/>
              </a:defRPr>
            </a:pPr>
            <a:r>
              <a:t>Крос-контейнерна кореляція логів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0362895" cy="18288"/>
          </a:xfrm>
          <a:prstGeom prst="rect">
            <a:avLst/>
          </a:prstGeom>
          <a:solidFill>
            <a:srgbClr val="9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Garamond"/>
              </a:rPr>
              <a:t/>
            </a:r>
            <a:r>
              <a:rPr sz="1800" b="1">
                <a:solidFill>
                  <a:srgbClr val="1A2E40"/>
                </a:solidFill>
                <a:latin typeface="Garamond"/>
              </a:rPr>
              <a:t>Визначення взаємозв'язків</a:t>
            </a:r>
            <a:r>
              <a:rPr sz="1800">
                <a:solidFill>
                  <a:srgbClr val="2C2C2C"/>
                </a:solidFill>
                <a:latin typeface="Garamond"/>
              </a:rPr>
              <a:t>: Пошук спільних логів помилок на інших контейнерах у часовому вікні ±5 хвилин від початку інциденту.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Garamond"/>
              </a:rPr>
              <a:t/>
            </a:r>
            <a:r>
              <a:rPr sz="1800" b="1">
                <a:solidFill>
                  <a:srgbClr val="1A2E40"/>
                </a:solidFill>
                <a:latin typeface="Garamond"/>
              </a:rPr>
              <a:t>Швидка діагностика</a:t>
            </a:r>
            <a:r>
              <a:rPr sz="1800">
                <a:solidFill>
                  <a:srgbClr val="2C2C2C"/>
                </a:solidFill>
                <a:latin typeface="Garamond"/>
              </a:rPr>
              <a:t>: Можливість миттєво побачити, чи була мережева атака на веб-сервер пов'язана із помилками в базі даних.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Garamond"/>
              </a:rPr>
              <a:t/>
            </a:r>
            <a:r>
              <a:rPr sz="1800" b="1">
                <a:solidFill>
                  <a:srgbClr val="1A2E40"/>
                </a:solidFill>
                <a:latin typeface="Garamond"/>
              </a:rPr>
              <a:t>Спільні алерти</a:t>
            </a:r>
            <a:r>
              <a:rPr sz="1800">
                <a:solidFill>
                  <a:srgbClr val="2C2C2C"/>
                </a:solidFill>
                <a:latin typeface="Garamond"/>
              </a:rPr>
              <a:t>: Автоматичне виявлення інших активних сповіщень у той самий проміжок часу для побудови повної картини атаки.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C8C70"/>
                </a:solidFill>
                <a:latin typeface="Garamond"/>
              </a:defRPr>
            </a:pPr>
            <a:r>
              <a:t>NetVigil — Observability &amp; Threat Intelligence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A2E40"/>
                </a:solidFill>
                <a:latin typeface="Georgia"/>
              </a:defRPr>
            </a:pPr>
            <a:r>
              <a:t>Автоматичні ШІ-ретроспективи (Post-Mortem)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0362895" cy="18288"/>
          </a:xfrm>
          <a:prstGeom prst="rect">
            <a:avLst/>
          </a:prstGeom>
          <a:solidFill>
            <a:srgbClr val="9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Garamond"/>
              </a:rPr>
              <a:t/>
            </a:r>
            <a:r>
              <a:rPr sz="1800" b="1">
                <a:solidFill>
                  <a:srgbClr val="1A2E40"/>
                </a:solidFill>
                <a:latin typeface="Garamond"/>
              </a:rPr>
              <a:t>Генерація post-mortem</a:t>
            </a:r>
            <a:r>
              <a:rPr sz="1800">
                <a:solidFill>
                  <a:srgbClr val="2C2C2C"/>
                </a:solidFill>
                <a:latin typeface="Garamond"/>
              </a:rPr>
              <a:t>: Автоматичний аналіз інциденту за допомогою локальної Llama-3 після його завершення.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Garamond"/>
              </a:rPr>
              <a:t/>
            </a:r>
            <a:r>
              <a:rPr sz="1800" b="1">
                <a:solidFill>
                  <a:srgbClr val="1A2E40"/>
                </a:solidFill>
                <a:latin typeface="Garamond"/>
              </a:rPr>
              <a:t>Формат звіту (JSON)</a:t>
            </a:r>
            <a:r>
              <a:rPr sz="1800">
                <a:solidFill>
                  <a:srgbClr val="2C2C2C"/>
                </a:solidFill>
                <a:latin typeface="Garamond"/>
              </a:rPr>
              <a:t>: Звіт містить структурований аналіз першопричини (Root Cause), хронології (Timeline), наслідків (Impact) та рекомендацій.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Garamond"/>
              </a:rPr>
              <a:t/>
            </a:r>
            <a:r>
              <a:rPr sz="1800" b="1">
                <a:solidFill>
                  <a:srgbClr val="1A2E40"/>
                </a:solidFill>
                <a:latin typeface="Garamond"/>
              </a:rPr>
              <a:t>Запобігання рецидивам</a:t>
            </a:r>
            <a:r>
              <a:rPr sz="1800">
                <a:solidFill>
                  <a:srgbClr val="2C2C2C"/>
                </a:solidFill>
                <a:latin typeface="Garamond"/>
              </a:rPr>
              <a:t>: Формування списку рекомендацій щодо покращення безпеки інфраструктури (Preventative Actions).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Garamond"/>
              </a:rPr>
              <a:t/>
            </a:r>
            <a:r>
              <a:rPr sz="1800" b="1">
                <a:solidFill>
                  <a:srgbClr val="1A2E40"/>
                </a:solidFill>
                <a:latin typeface="Garamond"/>
              </a:rPr>
              <a:t>Україномовний аналіз</a:t>
            </a:r>
            <a:r>
              <a:rPr sz="1800">
                <a:solidFill>
                  <a:srgbClr val="2C2C2C"/>
                </a:solidFill>
                <a:latin typeface="Garamond"/>
              </a:rPr>
              <a:t>: Звіт формується державною мовою для спрощення SecOps-документації.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C8C70"/>
                </a:solidFill>
                <a:latin typeface="Garamond"/>
              </a:defRPr>
            </a:pPr>
            <a:r>
              <a:t>NetVigil — Observability &amp; Threat Intelligence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A2E40"/>
                </a:solidFill>
                <a:latin typeface="Georgia"/>
              </a:defRPr>
            </a:pPr>
            <a:r>
              <a:t>SecOps Dashboard та управління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0362895" cy="18288"/>
          </a:xfrm>
          <a:prstGeom prst="rect">
            <a:avLst/>
          </a:prstGeom>
          <a:solidFill>
            <a:srgbClr val="9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2C2C2C"/>
                </a:solidFill>
                <a:latin typeface="Garamond"/>
              </a:rPr>
              <a:t/>
            </a:r>
            <a:r>
              <a:rPr sz="1600" b="1">
                <a:solidFill>
                  <a:srgbClr val="1A2E40"/>
                </a:solidFill>
                <a:latin typeface="Garamond"/>
              </a:rPr>
              <a:t>Інтерактивна таблиця</a:t>
            </a:r>
            <a:r>
              <a:rPr sz="1600">
                <a:solidFill>
                  <a:srgbClr val="2C2C2C"/>
                </a:solidFill>
                <a:latin typeface="Garamond"/>
              </a:rPr>
              <a:t>: Візуальний статус активності, рівні ризику, підсвічування статусів.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C2C2C"/>
                </a:solidFill>
                <a:latin typeface="Garamond"/>
              </a:rPr>
              <a:t/>
            </a:r>
            <a:r>
              <a:rPr sz="1600" b="1">
                <a:solidFill>
                  <a:srgbClr val="1A2E40"/>
                </a:solidFill>
                <a:latin typeface="Garamond"/>
              </a:rPr>
              <a:t>Двоколонковий Grid-інтерфейс деталей</a:t>
            </a:r>
            <a:r>
              <a:rPr sz="1600">
                <a:solidFill>
                  <a:srgbClr val="2C2C2C"/>
                </a:solidFill>
                <a:latin typeface="Garamond"/>
              </a:rPr>
              <a:t>: Ліва колонка містить історію повідомлень та сирі логи з Loki. Права колонка містить картки ручного запуску ШІ-аналізу та лог-кореляції.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C2C2C"/>
                </a:solidFill>
                <a:latin typeface="Garamond"/>
              </a:rPr>
              <a:t/>
            </a:r>
            <a:r>
              <a:rPr sz="1600" b="1">
                <a:solidFill>
                  <a:srgbClr val="1A2E40"/>
                </a:solidFill>
                <a:latin typeface="Garamond"/>
              </a:rPr>
              <a:t>Асинхронні запити</a:t>
            </a:r>
            <a:r>
              <a:rPr sz="1600">
                <a:solidFill>
                  <a:srgbClr val="2C2C2C"/>
                </a:solidFill>
                <a:latin typeface="Garamond"/>
              </a:rPr>
              <a:t>: Плавне завантаження результатів аналітики без перезавантаження сторінки.</a:t>
            </a:r>
          </a:p>
        </p:txBody>
      </p:sp>
      <p:pic>
        <p:nvPicPr>
          <p:cNvPr id="5" name="Picture 4" descr="screensho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613121"/>
            <a:ext cx="4846320" cy="25461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0" y="2613121"/>
            <a:ext cx="4846320" cy="2546156"/>
          </a:xfrm>
          <a:prstGeom prst="rect">
            <a:avLst/>
          </a:prstGeom>
          <a:noFill/>
          <a:ln w="12700">
            <a:solidFill>
              <a:srgbClr val="9C8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C8C70"/>
                </a:solidFill>
                <a:latin typeface="Garamond"/>
              </a:defRPr>
            </a:pPr>
            <a:r>
              <a:t>NetVigil — Observability &amp; Threat Intelligence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A2E40"/>
                </a:solidFill>
                <a:latin typeface="Georgia"/>
              </a:defRPr>
            </a:pPr>
            <a:r>
              <a:t>Висновки та результати роботи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0362895" cy="18288"/>
          </a:xfrm>
          <a:prstGeom prst="rect">
            <a:avLst/>
          </a:prstGeom>
          <a:solidFill>
            <a:srgbClr val="9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Garamond"/>
              </a:rPr>
              <a:t/>
            </a:r>
            <a:r>
              <a:rPr sz="1800" b="1">
                <a:solidFill>
                  <a:srgbClr val="1A2E40"/>
                </a:solidFill>
                <a:latin typeface="Garamond"/>
              </a:rPr>
              <a:t>Підвищення прозорості</a:t>
            </a:r>
            <a:r>
              <a:rPr sz="1800">
                <a:solidFill>
                  <a:srgbClr val="2C2C2C"/>
                </a:solidFill>
                <a:latin typeface="Garamond"/>
              </a:rPr>
              <a:t>: SecOps отримав єдиний пульт керування інцидентами з повною видимістю логів та хронології.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Garamond"/>
              </a:rPr>
              <a:t/>
            </a:r>
            <a:r>
              <a:rPr sz="1800" b="1">
                <a:solidFill>
                  <a:srgbClr val="1A2E40"/>
                </a:solidFill>
                <a:latin typeface="Garamond"/>
              </a:rPr>
              <a:t>ШІ як асистент</a:t>
            </a:r>
            <a:r>
              <a:rPr sz="1800">
                <a:solidFill>
                  <a:srgbClr val="2C2C2C"/>
                </a:solidFill>
                <a:latin typeface="Garamond"/>
              </a:rPr>
              <a:t>: Локальний ШІ успішно знімає рутинне навантаження з аналітика, пропонуючи готові кроки вирішення.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Garamond"/>
              </a:rPr>
              <a:t/>
            </a:r>
            <a:r>
              <a:rPr sz="1800" b="1">
                <a:solidFill>
                  <a:srgbClr val="1A2E40"/>
                </a:solidFill>
                <a:latin typeface="Garamond"/>
              </a:rPr>
              <a:t>Безпека даних</a:t>
            </a:r>
            <a:r>
              <a:rPr sz="1800">
                <a:solidFill>
                  <a:srgbClr val="2C2C2C"/>
                </a:solidFill>
                <a:latin typeface="Garamond"/>
              </a:rPr>
              <a:t>: Завдяки Ollama конфіденційні логи системи не залишають внутрішнього периметру інфраструктури.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Garamond"/>
              </a:rPr>
              <a:t/>
            </a:r>
            <a:r>
              <a:rPr sz="1800" b="1">
                <a:solidFill>
                  <a:srgbClr val="1A2E40"/>
                </a:solidFill>
                <a:latin typeface="Garamond"/>
              </a:rPr>
              <a:t>Ефективність</a:t>
            </a:r>
            <a:r>
              <a:rPr sz="1800">
                <a:solidFill>
                  <a:srgbClr val="2C2C2C"/>
                </a:solidFill>
                <a:latin typeface="Garamond"/>
              </a:rPr>
              <a:t>: Шійдість розслідування інцидентів зросла завдяки автоматичній крос-контейнерній кореляції логів.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C8C70"/>
                </a:solidFill>
                <a:latin typeface="Garamond"/>
              </a:defRPr>
            </a:pPr>
            <a:r>
              <a:t>NetVigil — Observability &amp; Threat Intelligence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